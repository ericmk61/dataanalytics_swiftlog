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406E"/>
                </a:solidFill>
                <a:latin typeface="Aptos Display"/>
              </a:defRPr>
            </a:pPr>
            <a:r>
              <a:t>SwiftLog Logistics</a:t>
            </a:r>
          </a:p>
          <a:p>
            <a:pPr>
              <a:defRPr sz="2600" b="1">
                <a:solidFill>
                  <a:srgbClr val="2C71AE"/>
                </a:solidFill>
                <a:latin typeface="Aptos Display"/>
              </a:defRPr>
            </a:pPr>
            <a:r>
              <a:t>Supply Chain Analytics &amp;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7180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770"/>
                </a:solidFill>
                <a:latin typeface="Aptos"/>
              </a:defRPr>
            </a:pPr>
            <a:r>
              <a:t>Executive Presentation | Power BI Analysis | January–September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931920"/>
            <a:ext cx="8290854" cy="914400"/>
          </a:xfrm>
          <a:prstGeom prst="roundRect">
            <a:avLst/>
          </a:prstGeom>
          <a:solidFill>
            <a:srgbClr val="FFF9F2"/>
          </a:solidFill>
          <a:ln>
            <a:solidFill>
              <a:srgbClr val="F5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3931920"/>
            <a:ext cx="64008" cy="914400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4041648"/>
            <a:ext cx="84852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2B31"/>
                </a:solidFill>
                <a:latin typeface="Aptos"/>
              </a:defRPr>
            </a:pPr>
            <a:r>
              <a:t>Prepared for SwiftLog Logistics Limited leadership. Analysis is based on the provided Week 5 logistics datasets and the completed Power BI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AnalystLab Africa Week 5 | Data Analytics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406E"/>
                </a:solidFill>
                <a:latin typeface="Aptos Display"/>
              </a:defRPr>
            </a:pPr>
            <a:r>
              <a:t>1. Business Overview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05840" cy="5486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5394960" cy="452628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17904"/>
            <a:ext cx="49926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Business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83664"/>
            <a:ext cx="4992624" cy="3831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SwiftLog operates across customers, orders, products, inventory, warehouses, shipments, deliveries and returns.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Rapid expansion has created delivery delays, inventory challenges and limited executive visibility.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The BI solution integrates operational datasets into a management-ready Power BI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4526280"/>
          </a:xfrm>
          <a:prstGeom prst="roundRect">
            <a:avLst/>
          </a:prstGeom>
          <a:solidFill>
            <a:srgbClr val="F8FAFD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517904"/>
            <a:ext cx="49926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883664"/>
            <a:ext cx="4992624" cy="3831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Monitor overall business performance and revenue trends.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Improve delivery efficiency and identify delay bottlenecks.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Strengthen inventory and warehouse decision-making.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Evaluate customers, products, returns and supplier data quality.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Support faster, evidence-based executive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SwiftLog Logistics Analytics | Reporting period: 1 Jan – 8 Sep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406E"/>
                </a:solidFill>
                <a:latin typeface="Aptos Display"/>
              </a:defRPr>
            </a:pPr>
            <a:r>
              <a:t>2. Data Foundation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770"/>
                </a:solidFill>
                <a:latin typeface="Aptos"/>
              </a:defRPr>
            </a:pPr>
            <a:r>
              <a:t>11 operational datasets integrated in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005840" cy="5486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703320" cy="448056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330098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37943"/>
            <a:ext cx="3300984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Customers, Orders and Order Items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Products and Returns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Inventory and Warehouses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Shipments and Delivery Performance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Employees and Suppliers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Dedicated Date table for time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325880"/>
            <a:ext cx="3703320" cy="448056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472184"/>
            <a:ext cx="330098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Cleaning &amp;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37943"/>
            <a:ext cx="3300984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Verified column names, types and keys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Checked missing values and duplicate records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Trimmed / cleaned text fields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Removed 3 exact duplicate inventory rows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Grouped employees by warehouse and merged EmployeeCount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Merged Delivery Performance into Shipments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Created Month, Month Number and Quarter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325880"/>
            <a:ext cx="3108960" cy="448056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59368" y="1472184"/>
            <a:ext cx="27066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Modeling Principles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8" y="1837943"/>
            <a:ext cx="2706624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Single-direction relationships used where possible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Date table related to Orders[OrderDate]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Supplier table intentionally remains disconnected because no shared SupplierID key exists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Model limitations were documented rather than hidden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SwiftLog Logistics Analytics | Reporting period: 1 Jan – 8 Sep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406E"/>
                </a:solidFill>
                <a:latin typeface="Aptos Display"/>
              </a:defRPr>
            </a:pPr>
            <a:r>
              <a:t>3. Data Model &amp;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770"/>
                </a:solidFill>
                <a:latin typeface="Aptos"/>
              </a:defRPr>
            </a:pPr>
            <a:r>
              <a:t>Relational model designed to support cross-functional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005840" cy="5486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(20261016-21385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995160" cy="30644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371600"/>
            <a:ext cx="3657600" cy="438912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8" y="1517904"/>
            <a:ext cx="32552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Core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1883664"/>
            <a:ext cx="32552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Customers → Orders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Orders → Order Items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Products → Order Items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Products → Inventory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Warehouses → Inventory and Shipments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Orders → Shipments and Returns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DateTable →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159" y="5340096"/>
            <a:ext cx="7192984" cy="1243584"/>
          </a:xfrm>
          <a:prstGeom prst="roundRect">
            <a:avLst/>
          </a:prstGeom>
          <a:solidFill>
            <a:srgbClr val="FFF9F2"/>
          </a:solidFill>
          <a:ln>
            <a:solidFill>
              <a:srgbClr val="F5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Supplier analysis is constrained because </a:t>
            </a:r>
            <a:r>
              <a:rPr lang="en-US" dirty="0" err="1">
                <a:solidFill>
                  <a:schemeClr val="tx1"/>
                </a:solidFill>
              </a:rPr>
              <a:t>SupplierID</a:t>
            </a:r>
            <a:r>
              <a:rPr lang="en-US" dirty="0">
                <a:solidFill>
                  <a:schemeClr val="tx1"/>
                </a:solidFill>
              </a:rPr>
              <a:t> is not present in Products, Shipments or Inventory.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012" y="5340096"/>
            <a:ext cx="168277" cy="124358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SwiftLog Logistics Analytics | Reporting period: 1 Jan – 8 Sep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406E"/>
                </a:solidFill>
                <a:latin typeface="Aptos Display"/>
              </a:defRPr>
            </a:pPr>
            <a:r>
              <a:t>4. Executive KPI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05840" cy="5486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965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1078992"/>
          </a:xfrm>
          <a:prstGeom prst="rect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99616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62B31"/>
                </a:solidFill>
                <a:latin typeface="Aptos Display"/>
              </a:defRPr>
            </a:pPr>
            <a:r>
              <a:t>7.11M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770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71600"/>
            <a:ext cx="1965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71800" y="1371600"/>
            <a:ext cx="73152" cy="10789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1499616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62B31"/>
                </a:solidFill>
                <a:latin typeface="Aptos Display"/>
              </a:defRPr>
            </a:pPr>
            <a:r>
              <a:t>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94767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770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371600"/>
            <a:ext cx="1965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03520" y="1371600"/>
            <a:ext cx="73152" cy="10789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1499616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62B31"/>
                </a:solidFill>
                <a:latin typeface="Aptos Display"/>
              </a:defRPr>
            </a:pPr>
            <a:r>
              <a:t>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94767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770"/>
                </a:solidFill>
                <a:latin typeface="Aptos"/>
              </a:defRPr>
            </a:pPr>
            <a:r>
              <a:t>Total Shipments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71600"/>
            <a:ext cx="1965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1371600"/>
            <a:ext cx="73152" cy="1078992"/>
          </a:xfrm>
          <a:prstGeom prst="rect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19" y="1499616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62B31"/>
                </a:solidFill>
                <a:latin typeface="Aptos Display"/>
              </a:defRPr>
            </a:pPr>
            <a:r>
              <a:t>1,000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194767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770"/>
                </a:solidFill>
                <a:latin typeface="Aptos"/>
              </a:defRPr>
            </a:pPr>
            <a:r>
              <a:t>Total Customers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371600"/>
            <a:ext cx="1965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966960" y="1371600"/>
            <a:ext cx="73152" cy="1078992"/>
          </a:xfrm>
          <a:prstGeom prst="rect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49840" y="1499616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62B31"/>
                </a:solidFill>
                <a:latin typeface="Aptos Display"/>
              </a:defRPr>
            </a:pPr>
            <a:r>
              <a:t>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94767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770"/>
                </a:solidFill>
                <a:latin typeface="Aptos"/>
              </a:defRPr>
            </a:pPr>
            <a:r>
              <a:t>Total Products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880360"/>
            <a:ext cx="1965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2880360"/>
            <a:ext cx="73152" cy="1078992"/>
          </a:xfrm>
          <a:prstGeom prst="rect">
            <a:avLst/>
          </a:prstGeom>
          <a:solidFill>
            <a:srgbClr val="D6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3008376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62B31"/>
                </a:solidFill>
                <a:latin typeface="Aptos Display"/>
              </a:defRPr>
            </a:pPr>
            <a:r>
              <a:t>37.21%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45643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770"/>
                </a:solidFill>
                <a:latin typeface="Aptos"/>
              </a:defRPr>
            </a:pPr>
            <a:r>
              <a:t>On-Time Delivery 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2880360"/>
            <a:ext cx="1965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971800" y="2880360"/>
            <a:ext cx="73152" cy="1078992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54680" y="3008376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62B31"/>
                </a:solidFill>
                <a:latin typeface="Aptos Display"/>
              </a:defRPr>
            </a:pPr>
            <a:r>
              <a:t>3.52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345643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770"/>
                </a:solidFill>
                <a:latin typeface="Aptos"/>
              </a:defRPr>
            </a:pPr>
            <a:r>
              <a:t>Avg. Delivery Delay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0" y="2880360"/>
            <a:ext cx="1965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03520" y="2880360"/>
            <a:ext cx="73152" cy="1078992"/>
          </a:xfrm>
          <a:prstGeom prst="rect">
            <a:avLst/>
          </a:prstGeom>
          <a:solidFill>
            <a:srgbClr val="D6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0" y="3008376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62B31"/>
                </a:solidFill>
                <a:latin typeface="Aptos Display"/>
              </a:defRPr>
            </a:pPr>
            <a:r>
              <a:t>3,186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345643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770"/>
                </a:solidFill>
                <a:latin typeface="Aptos"/>
              </a:defRPr>
            </a:pPr>
            <a:r>
              <a:t>Delayed Shipments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2880360"/>
            <a:ext cx="1965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635240" y="2880360"/>
            <a:ext cx="73152" cy="1078992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18119" y="3008376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62B31"/>
                </a:solidFill>
                <a:latin typeface="Aptos Display"/>
              </a:defRPr>
            </a:pPr>
            <a:r>
              <a:t>186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19" y="345643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770"/>
                </a:solidFill>
                <a:latin typeface="Aptos"/>
              </a:defRPr>
            </a:pPr>
            <a:r>
              <a:t>Low-Stock Products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66960" y="2880360"/>
            <a:ext cx="1965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966960" y="2880360"/>
            <a:ext cx="73152" cy="107899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49840" y="3008376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62B31"/>
                </a:solidFill>
                <a:latin typeface="Aptos Display"/>
              </a:defRPr>
            </a:pPr>
            <a: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345643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770"/>
                </a:solidFill>
                <a:latin typeface="Aptos"/>
              </a:defRPr>
            </a:pPr>
            <a:r>
              <a:t>Warehouses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617720"/>
            <a:ext cx="11292840" cy="914400"/>
          </a:xfrm>
          <a:prstGeom prst="roundRect">
            <a:avLst/>
          </a:prstGeom>
          <a:solidFill>
            <a:srgbClr val="FFF9F2"/>
          </a:solidFill>
          <a:ln>
            <a:solidFill>
              <a:srgbClr val="F5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" y="4617720"/>
            <a:ext cx="64008" cy="914400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1" y="4727448"/>
            <a:ext cx="11018519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2B31"/>
                </a:solidFill>
                <a:latin typeface="Aptos"/>
              </a:defRPr>
            </a:pPr>
            <a:r>
              <a:t>Management priority: delivery performance. Nearly two-thirds of shipment-status records are delayed, while the dashboard reports an on-time delivery rate of 37.21%.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SwiftLog Logistics Analytics | Reporting period: 1 Jan – 8 Sep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406E"/>
                </a:solidFill>
                <a:latin typeface="Aptos Display"/>
              </a:defRPr>
            </a:pPr>
            <a:r>
              <a:t>5. Dashboard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770"/>
                </a:solidFill>
                <a:latin typeface="Aptos"/>
              </a:defRPr>
            </a:pPr>
            <a:r>
              <a:t>Six main analytical pages plus drill-through and tooltip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005840" cy="5486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3657600" cy="2120629"/>
          </a:xfrm>
          <a:prstGeom prst="rect">
            <a:avLst/>
          </a:prstGeom>
        </p:spPr>
      </p:pic>
      <p:pic>
        <p:nvPicPr>
          <p:cNvPr id="7" name="Picture 6" descr="image(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325880"/>
            <a:ext cx="3657600" cy="2222489"/>
          </a:xfrm>
          <a:prstGeom prst="rect">
            <a:avLst/>
          </a:prstGeom>
        </p:spPr>
      </p:pic>
      <p:pic>
        <p:nvPicPr>
          <p:cNvPr id="8" name="Picture 7" descr="image(6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325880"/>
            <a:ext cx="3657600" cy="20815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06E"/>
                </a:solidFill>
                <a:latin typeface="Aptos"/>
              </a:defRPr>
            </a:pPr>
            <a:r>
              <a:t>Customer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4160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06E"/>
                </a:solidFill>
                <a:latin typeface="Aptos"/>
              </a:defRPr>
            </a:pPr>
            <a:r>
              <a:t>Shipment &amp;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160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06E"/>
                </a:solidFill>
                <a:latin typeface="Aptos"/>
              </a:defRPr>
            </a:pPr>
            <a:r>
              <a:t>Product &amp; Supplier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72000"/>
            <a:ext cx="10972800" cy="150876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4736592"/>
            <a:ext cx="1057046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Interactive navigation, bookmarks, synchronized Month slicer, cross-filtering and conditional formatting.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Product Details drill-through and Product Tooltip support deeper product analysis.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Dynamic report titles and mobile layouts improve usability across viewing contexts.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SwiftLog Logistics Analytics | Reporting period: 1 Jan – 8 Sep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406E"/>
                </a:solidFill>
                <a:latin typeface="Aptos Display"/>
              </a:defRPr>
            </a:pPr>
            <a:r>
              <a:t>6. Commercial &amp; Customer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05840" cy="5486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212080" cy="23209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80760" y="1417320"/>
            <a:ext cx="5440680" cy="416052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81928" y="1563624"/>
            <a:ext cx="50383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What the dashboard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1928" y="1929384"/>
            <a:ext cx="5038344" cy="3465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Fashion contributes the largest revenue share: 2.73M (38.38%).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Food contributes 2.37M (33.33%); Electronics contributes 2.01M (28.29%).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Top revenue products: P203, P085 and P229.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Top revenue customers: Customer 223, Customer 773 and Customer 599.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August was the strongest month with 654 orders and approximately 2.85M in revenue.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April was also strong with 638 orders and approximately 2.74M in revenue.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06440"/>
            <a:ext cx="10881360" cy="548640"/>
          </a:xfrm>
          <a:prstGeom prst="roundRect">
            <a:avLst/>
          </a:prstGeom>
          <a:solidFill>
            <a:srgbClr val="FFF9F2"/>
          </a:solidFill>
          <a:ln>
            <a:solidFill>
              <a:srgbClr val="F5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5806440"/>
            <a:ext cx="64008" cy="548640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5916168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2B31"/>
                </a:solidFill>
                <a:latin typeface="Aptos"/>
              </a:defRPr>
            </a:pPr>
            <a:r>
              <a:t>Business implication: protect high-value products from stockouts, prioritize high-value customer retention, and build capacity ahead of peak demand periods.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SwiftLog Logistics Analytics | Reporting period: 1 Jan – 8 Sep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406E"/>
                </a:solidFill>
                <a:latin typeface="Aptos Display"/>
              </a:defRPr>
            </a:pPr>
            <a:r>
              <a:t>7. Delivery Performance &amp; Operational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05840" cy="5486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4192"/>
            <a:ext cx="4069080" cy="4298783"/>
          </a:xfrm>
          <a:prstGeom prst="rect">
            <a:avLst/>
          </a:prstGeom>
        </p:spPr>
      </p:pic>
      <p:pic>
        <p:nvPicPr>
          <p:cNvPr id="6" name="Picture 5" descr="reg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63040"/>
            <a:ext cx="3886200" cy="18597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961120" y="1325880"/>
            <a:ext cx="2606040" cy="452628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62288" y="1472184"/>
            <a:ext cx="220370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2288" y="1837943"/>
            <a:ext cx="2203704" cy="3831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3,186 of 5,000 shipment-status records are delayed (63.72%).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Average delivery delay: 3.52 days.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Lagos: 1,701 delayed shipments; 64.3% delay rate.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Abuja: 849 delayed; 63.6%.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Kano: 636 delayed; 62.5%.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Similar delay rates across regions suggest a system-wide delivery issue.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714999"/>
            <a:ext cx="8138160" cy="1143001"/>
          </a:xfrm>
          <a:prstGeom prst="roundRect">
            <a:avLst/>
          </a:prstGeom>
          <a:solidFill>
            <a:srgbClr val="FFF9F2"/>
          </a:solidFill>
          <a:ln>
            <a:solidFill>
              <a:srgbClr val="F5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Priority action: investigate dispatch processes, route planning, handoffs and workload bottlenecks—starting with Lagos because it carries the largest absolute delay burden.</a:t>
            </a:r>
          </a:p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4236" y="5733288"/>
            <a:ext cx="185928" cy="1124712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SwiftLog Logistics Analytics | Reporting period: 1 Jan – 8 Sep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406E"/>
                </a:solidFill>
                <a:latin typeface="Aptos Display"/>
              </a:defRPr>
            </a:pPr>
            <a:r>
              <a:t>8. Inventory &amp; Warehouse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05840" cy="5486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400800" cy="27931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69480" y="1371600"/>
            <a:ext cx="4297680" cy="448056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70648" y="1517904"/>
            <a:ext cx="38953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Operational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0648" y="1883664"/>
            <a:ext cx="3895344" cy="378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15 warehouses are monitored across the network.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186 products are flagged as low stock.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Inventory should be prioritized using revenue, units ordered and low-stock exposure.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W13 shows comparatively lower delayed-shipment volume; W01 and W11 also perform relatively better on the available delay indicator.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A formal warehouse-utilization KPI cannot be calculated because warehouse capacity is absent.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Inventory turnover is presented as a proxy because COGS and average inventory value are unavailable.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SwiftLog Logistics Analytics | Reporting period: 1 Jan – 8 Sep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406E"/>
                </a:solidFill>
                <a:latin typeface="Aptos Display"/>
              </a:defRPr>
            </a:pPr>
            <a:r>
              <a:t>9. Data Quality &amp; Analytical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05840" cy="5486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49240" cy="448056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494690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Structural Data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37943"/>
            <a:ext cx="4946903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Supplier performance cannot be measured reliably because SupplierID is not linked to Products, Shipments or Inventory.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Product-level return rates cannot be attributed reliably because Returns contains OrderID but not ProductID or OrderItemID.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Many returned orders contain multiple products, making indirect attribution ambiguous.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Average delivery time cannot be calculated because shipment/delivery timestamps are unavailable.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Warehouse utilization cannot be calculated without warehouse capacity.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49240" cy="4480560"/>
          </a:xfrm>
          <a:prstGeom prst="roundRect">
            <a:avLst/>
          </a:prstGeom>
          <a:solidFill>
            <a:srgbClr val="F8FAFD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472184"/>
            <a:ext cx="494690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How the BI Solution Handles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837943"/>
            <a:ext cx="4946903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The report avoids fabricating unsupported measures.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Proxy measures are clearly labeled where formal definitions cannot be met.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September is incomplete through 8 September and should not be compared directly with full months.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Future data capture should add SupplierID, ProductID/OrderItemID on returns, delivery timestamps, capacity and cost fields.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SwiftLog Logistics Analytics | Reporting period: 1 Jan – 8 Sep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406E"/>
                </a:solidFill>
                <a:latin typeface="Aptos Display"/>
              </a:defRPr>
            </a:pPr>
            <a:r>
              <a:t>10. Strategic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05840" cy="5486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1307592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406E"/>
                </a:solidFill>
                <a:latin typeface="Aptos"/>
              </a:defRPr>
            </a:pPr>
            <a:r>
              <a:t>Improve on-time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6276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5F6770"/>
                </a:solidFill>
                <a:latin typeface="Aptos"/>
              </a:defRPr>
            </a:pPr>
            <a:r>
              <a:t>Review dispatch, routing and delay root causes.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267712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406E"/>
                </a:solidFill>
                <a:latin typeface="Aptos"/>
              </a:defRPr>
            </a:pPr>
            <a:r>
              <a:t>Prioritize Lagos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5877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5F6770"/>
                </a:solidFill>
                <a:latin typeface="Aptos"/>
              </a:defRPr>
            </a:pPr>
            <a:r>
              <a:t>Investigate workload, scheduling and transport bottlenecks.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273551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227832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406E"/>
                </a:solidFill>
                <a:latin typeface="Aptos"/>
              </a:defRPr>
            </a:pPr>
            <a:r>
              <a:t>Benchmark stronger warehouses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35478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5F6770"/>
                </a:solidFill>
                <a:latin typeface="Aptos"/>
              </a:defRPr>
            </a:pPr>
            <a:r>
              <a:t>Transfer effective practices from lower-delay warehouses.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06240"/>
            <a:ext cx="411480" cy="411480"/>
          </a:xfrm>
          <a:prstGeom prst="ellipse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187952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406E"/>
                </a:solidFill>
                <a:latin typeface="Aptos"/>
              </a:defRPr>
            </a:pPr>
            <a:r>
              <a:t>Protect top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45079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5F6770"/>
                </a:solidFill>
                <a:latin typeface="Aptos"/>
              </a:defRPr>
            </a:pPr>
            <a:r>
              <a:t>Prioritize P203, P085 and P229 availability.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166360"/>
            <a:ext cx="411480" cy="411480"/>
          </a:xfrm>
          <a:prstGeom prst="ellipse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1937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5148072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406E"/>
                </a:solidFill>
                <a:latin typeface="Aptos"/>
              </a:defRPr>
            </a:pPr>
            <a:r>
              <a:t>Retain high-value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54681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5F6770"/>
                </a:solidFill>
                <a:latin typeface="Aptos"/>
              </a:defRPr>
            </a:pPr>
            <a:r>
              <a:t>Target Customers 223, 773 and 599 with proactive service.</a:t>
            </a:r>
          </a:p>
        </p:txBody>
      </p:sp>
      <p:sp>
        <p:nvSpPr>
          <p:cNvPr id="25" name="Oval 24"/>
          <p:cNvSpPr/>
          <p:nvPr/>
        </p:nvSpPr>
        <p:spPr>
          <a:xfrm>
            <a:off x="6172200" y="1325880"/>
            <a:ext cx="411480" cy="411480"/>
          </a:xfrm>
          <a:prstGeom prst="ellipse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2200" y="13533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307592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406E"/>
                </a:solidFill>
                <a:latin typeface="Aptos"/>
              </a:defRPr>
            </a:pPr>
            <a:r>
              <a:t>Plan for peak demand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276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5F6770"/>
                </a:solidFill>
                <a:latin typeface="Aptos"/>
              </a:defRPr>
            </a:pPr>
            <a:r>
              <a:t>Build stock, staffing and delivery capacity before peak months.</a:t>
            </a:r>
          </a:p>
        </p:txBody>
      </p:sp>
      <p:sp>
        <p:nvSpPr>
          <p:cNvPr id="29" name="Oval 28"/>
          <p:cNvSpPr/>
          <p:nvPr/>
        </p:nvSpPr>
        <p:spPr>
          <a:xfrm>
            <a:off x="6172200" y="2286000"/>
            <a:ext cx="411480" cy="411480"/>
          </a:xfrm>
          <a:prstGeom prst="ellipse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2200" y="231343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267712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406E"/>
                </a:solidFill>
                <a:latin typeface="Aptos"/>
              </a:defRPr>
            </a:pPr>
            <a:r>
              <a:t>Rebalance inventory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5877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5F6770"/>
                </a:solidFill>
                <a:latin typeface="Aptos"/>
              </a:defRPr>
            </a:pPr>
            <a:r>
              <a:t>Use low-stock and revenue views to guide transfers and replenishment.</a:t>
            </a:r>
          </a:p>
        </p:txBody>
      </p:sp>
      <p:sp>
        <p:nvSpPr>
          <p:cNvPr id="33" name="Oval 32"/>
          <p:cNvSpPr/>
          <p:nvPr/>
        </p:nvSpPr>
        <p:spPr>
          <a:xfrm>
            <a:off x="6172200" y="3246120"/>
            <a:ext cx="411480" cy="411480"/>
          </a:xfrm>
          <a:prstGeom prst="ellipse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3273551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227832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406E"/>
                </a:solidFill>
                <a:latin typeface="Aptos"/>
              </a:defRPr>
            </a:pPr>
            <a:r>
              <a:t>Reduce avoidable returns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5478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5F6770"/>
                </a:solidFill>
                <a:latin typeface="Aptos"/>
              </a:defRPr>
            </a:pPr>
            <a:r>
              <a:t>Address damage, wrong-item and late-delivery causes.</a:t>
            </a:r>
          </a:p>
        </p:txBody>
      </p:sp>
      <p:sp>
        <p:nvSpPr>
          <p:cNvPr id="37" name="Oval 36"/>
          <p:cNvSpPr/>
          <p:nvPr/>
        </p:nvSpPr>
        <p:spPr>
          <a:xfrm>
            <a:off x="6172200" y="4206240"/>
            <a:ext cx="411480" cy="411480"/>
          </a:xfrm>
          <a:prstGeom prst="ellipse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42336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187952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406E"/>
                </a:solidFill>
                <a:latin typeface="Aptos"/>
              </a:defRPr>
            </a:pPr>
            <a:r>
              <a:t>Strengthen source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5079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5F6770"/>
                </a:solidFill>
                <a:latin typeface="Aptos"/>
              </a:defRPr>
            </a:pPr>
            <a:r>
              <a:t>Add missing supplier, return, delivery-time and capacity keys.</a:t>
            </a:r>
          </a:p>
        </p:txBody>
      </p:sp>
      <p:sp>
        <p:nvSpPr>
          <p:cNvPr id="41" name="Oval 40"/>
          <p:cNvSpPr/>
          <p:nvPr/>
        </p:nvSpPr>
        <p:spPr>
          <a:xfrm>
            <a:off x="6172200" y="5166360"/>
            <a:ext cx="411480" cy="411480"/>
          </a:xfrm>
          <a:prstGeom prst="ellipse">
            <a:avLst/>
          </a:prstGeom>
          <a:solidFill>
            <a:srgbClr val="2C7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72200" y="51937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5148072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406E"/>
                </a:solidFill>
                <a:latin typeface="Aptos"/>
              </a:defRPr>
            </a:pPr>
            <a:r>
              <a:t>Institutionalize KPI monitoring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4681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5F6770"/>
                </a:solidFill>
                <a:latin typeface="Aptos"/>
              </a:defRPr>
            </a:pPr>
            <a:r>
              <a:t>Track revenue, delays, returns and inventory through Power BI.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SwiftLog Logistics Analytics | Reporting period: 1 Jan – 8 Sep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406E"/>
                </a:solidFill>
                <a:latin typeface="Aptos Display"/>
              </a:defRPr>
            </a:pPr>
            <a:r>
              <a:t>11. Expected Business Impact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05840" cy="54864"/>
          </a:xfrm>
          <a:prstGeom prst="rect">
            <a:avLst/>
          </a:prstGeom>
          <a:solidFill>
            <a:srgbClr val="F2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657600" cy="429768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32552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Expected 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37943"/>
            <a:ext cx="3255264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Faster visibility into revenue, orders, delivery delays and inventory risk.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Better prioritization of high-value products, customers and regions.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More disciplined warehouse and replenishment decisions.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Stronger management focus on delivery reliability and service quality.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657600" cy="4297680"/>
          </a:xfrm>
          <a:prstGeom prst="roundRect">
            <a:avLst/>
          </a:prstGeom>
          <a:solidFill>
            <a:srgbClr val="F8FAFD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7448" y="1472184"/>
            <a:ext cx="32552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Executive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837943"/>
            <a:ext cx="3255264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Delivery performance is the most urgent operational priority.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Commercial performance is diversified across product categories.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The highest-value products and customers create clear growth opportunities.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Several analytical gaps originate in source-data design rather than Power BI.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325880"/>
            <a:ext cx="3154680" cy="429768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13648" y="1472184"/>
            <a:ext cx="27523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406E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1837943"/>
            <a:ext cx="2752344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Use the dashboard as a recurring management tool.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Improve source-data relationships and timestamps.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Track corrective actions against the delivery KPIs.</a:t>
            </a:r>
          </a:p>
          <a:p>
            <a:pPr>
              <a:spcAft>
                <a:spcPts val="700"/>
              </a:spcAft>
              <a:defRPr sz="1150">
                <a:solidFill>
                  <a:srgbClr val="262B31"/>
                </a:solidFill>
                <a:latin typeface="Aptos"/>
              </a:defRPr>
            </a:pPr>
            <a:r>
              <a:t>• Expand BI once supplier, return and capacity data are strengthened.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F6770"/>
                </a:solidFill>
                <a:latin typeface="Aptos"/>
              </a:defRPr>
            </a:pPr>
            <a:r>
              <a:t>SwiftLog Logistics Analytics | Reporting period: 1 Jan – 8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1355</Words>
  <Application>Microsoft Office PowerPoint</Application>
  <PresentationFormat>Widescreen</PresentationFormat>
  <Paragraphs>175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Erik kamau</cp:lastModifiedBy>
  <cp:revision>2</cp:revision>
  <dcterms:created xsi:type="dcterms:W3CDTF">2013-01-27T09:14:16Z</dcterms:created>
  <dcterms:modified xsi:type="dcterms:W3CDTF">2026-10-18T19:58:34Z</dcterms:modified>
  <cp:category/>
</cp:coreProperties>
</file>